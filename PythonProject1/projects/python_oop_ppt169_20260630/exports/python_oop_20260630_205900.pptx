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大家好，欢迎来到Python面向对象编程入门。今天我们用三分钟，从「自己干」到「让别人干」，理解OOP的核心思想。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编程有两大思想：面向过程，就是自己规划、自己执行，扫地拖地擦桌子每一步都要亲力亲为。面向对象呢？培养一个「胖虎」，让他去干活，怎么干是他的事，我们只要结果。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面向对象编程就三步：第一步，用class关键字设计蓝图；第二步，根据蓝图创建出具体的对象实例；第三步，让这些对象去干活——访问属性、调用方法。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self是什么？简单说：哪个对象调用方法，self就指向谁。stu1调用sleep，self就是王丽红；stu2调用sleep，self就是周杰轮。同一个方法，不同数据。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Python有四个核心魔法方法：init构造方法，创建对象时自动执行；str字符串方法，print时自动调用；eq相等比较，==时自动调用；del析构方法，删除对象时自动执行。名字固定，功能内置。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封装的核心是私有属性。加两个下划线前缀，属性就变成私有的，外部无法直接访问。想修改？必须走公开的get/set方法，这样我们就可以在方法里加验证逻辑，保护数据安全。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总结一下：三步走、四个魔法方法、三大特征。封装我们讲了，继承和多态是下一步的内容。谢谢大家！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4286250" y="-4286250"/>
            <a:ext cx="6667500" cy="6667500"/>
          </a:xfrm>
          <a:prstGeom prst="ellipse">
            <a:avLst/>
          </a:prstGeom>
          <a:solidFill>
            <a:srgbClr val="00BFA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191750" y="3048000"/>
            <a:ext cx="5334000" cy="5334000"/>
          </a:xfrm>
          <a:prstGeom prst="ellipse">
            <a:avLst/>
          </a:prstGeom>
          <a:solidFill>
            <a:srgbClr val="FF6D00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5238750" y="1524000"/>
            <a:ext cx="1714500" cy="1714500"/>
          </a:xfrm>
          <a:prstGeom prst="ellipse">
            <a:avLst/>
          </a:prstGeom>
          <a:noFill/>
          <a:ln w="19050">
            <a:solidFill>
              <a:srgbClr val="00BFA5">
                <a:alpha val="3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524500" y="1333500"/>
            <a:ext cx="1143000" cy="1143000"/>
            <a:chOff x="5524500" y="1333500"/>
            <a:chExt cx="1143000" cy="1143000"/>
          </a:xfrm>
        </p:grpSpPr>
        <p:sp>
          <p:nvSpPr>
            <p:cNvPr id="6" name="Ellipse 6"/>
            <p:cNvSpPr/>
            <p:nvPr/>
          </p:nvSpPr>
          <p:spPr>
            <a:xfrm>
              <a:off x="5524500" y="1333500"/>
              <a:ext cx="1143000" cy="1143000"/>
            </a:xfrm>
            <a:prstGeom prst="ellipse">
              <a:avLst/>
            </a:prstGeom>
            <a:solidFill>
              <a:srgbClr val="00BFA5">
                <a:alpha val="12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789916" y="1659255"/>
              <a:ext cx="6121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BFA5"/>
                  </a:solidFill>
                  <a:latin typeface="Consolas"/>
                  <a:ea typeface="Consolas"/>
                  <a:cs typeface="Consolas"/>
                </a:rPr>
                <a:t>Py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10188" y="334613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从三份代码理解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05896" y="3674745"/>
            <a:ext cx="538020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Python 面向对象编程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75835" y="4457700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BFA5"/>
                </a:solidFill>
                <a:latin typeface="Calibri Light"/>
                <a:ea typeface="Microsoft YaHei"/>
                <a:cs typeface="Calibri Light"/>
              </a:rPr>
              <a:t>从「自己干」到「让别人干」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095500" y="5143500"/>
            <a:ext cx="1905000" cy="438150"/>
          </a:xfrm>
          <a:prstGeom prst="roundRect">
            <a:avLst>
              <a:gd name="adj" fmla="val 50000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54198" y="5290185"/>
            <a:ext cx="7876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BFA5"/>
                </a:solidFill>
                <a:latin typeface="Calibri"/>
                <a:ea typeface="Microsoft YaHei"/>
                <a:cs typeface="Calibri"/>
              </a:rPr>
              <a:t>class 设计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18349" y="52578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B0B0C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762500" y="5143500"/>
            <a:ext cx="1905000" cy="438150"/>
          </a:xfrm>
          <a:prstGeom prst="roundRect">
            <a:avLst>
              <a:gd name="adj" fmla="val 50000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361584" y="5290185"/>
            <a:ext cx="7068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BFA5"/>
                </a:solidFill>
                <a:latin typeface="Calibri"/>
                <a:ea typeface="Microsoft YaHei"/>
                <a:cs typeface="Calibri"/>
              </a:rPr>
              <a:t>对象 创建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349" y="525780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B0B0C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429500" y="5143500"/>
            <a:ext cx="1905000" cy="438150"/>
          </a:xfrm>
          <a:prstGeom prst="roundRect">
            <a:avLst>
              <a:gd name="adj" fmla="val 50000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028584" y="5290185"/>
            <a:ext cx="7068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BFA5"/>
                </a:solidFill>
                <a:latin typeface="Calibri"/>
                <a:ea typeface="Microsoft YaHei"/>
                <a:cs typeface="Calibri"/>
              </a:rPr>
              <a:t>对象 干活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488" y="6522720"/>
            <a:ext cx="11726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80"/>
                </a:solidFill>
                <a:latin typeface="Calibri Light"/>
                <a:ea typeface="Microsoft YaHei"/>
                <a:cs typeface="Calibri Light"/>
              </a:rPr>
              <a:t>day_01 课堂重点笔记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3296" y="296228"/>
            <a:ext cx="388267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编程思想：过程 vs 对象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0535" y="783431"/>
            <a:ext cx="3365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三大编程思想之二 — 打扫教室，谁来干？怎么干？</a:t>
            </a:r>
          </a:p>
        </p:txBody>
      </p:sp>
      <p:sp>
        <p:nvSpPr>
          <p:cNvPr id="5" name="Rectangle 5"/>
          <p:cNvSpPr/>
          <p:nvPr/>
        </p:nvSpPr>
        <p:spPr>
          <a:xfrm>
            <a:off x="476250" y="1238250"/>
            <a:ext cx="5334000" cy="4953000"/>
          </a:xfrm>
          <a:prstGeom prst="roundRect">
            <a:avLst>
              <a:gd name="adj" fmla="val 1538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476250" y="1238250"/>
            <a:ext cx="5334000" cy="47625"/>
          </a:xfrm>
          <a:prstGeom prst="rect">
            <a:avLst/>
          </a:prstGeom>
          <a:solidFill>
            <a:srgbClr val="FF6D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2856" y="14249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6D00"/>
                </a:solidFill>
                <a:latin typeface="Arial Black"/>
                <a:ea typeface="Microsoft YaHei"/>
                <a:cs typeface="Arial Black"/>
              </a:rPr>
              <a:t>面向过程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666" y="17916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我自己想 · 我自己干</a:t>
            </a:r>
          </a:p>
        </p:txBody>
      </p:sp>
      <p:sp>
        <p:nvSpPr>
          <p:cNvPr id="9" name="Ellipse 9"/>
          <p:cNvSpPr/>
          <p:nvPr/>
        </p:nvSpPr>
        <p:spPr>
          <a:xfrm>
            <a:off x="2667000" y="2667000"/>
            <a:ext cx="952500" cy="952500"/>
          </a:xfrm>
          <a:prstGeom prst="ellipse">
            <a:avLst/>
          </a:prstGeom>
          <a:solidFill>
            <a:srgbClr val="FF6D00">
              <a:alpha val="15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029579" y="2966085"/>
            <a:ext cx="227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FF6D00"/>
                </a:solidFill>
                <a:latin typeface="Calibri"/>
                <a:ea typeface="Calibri"/>
                <a:cs typeface="Calibri"/>
              </a:rPr>
              <a:t>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67240" y="3696652"/>
            <a:ext cx="1520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0C0"/>
                </a:solidFill>
                <a:latin typeface="Calibri"/>
                <a:ea typeface="Microsoft YaHei"/>
                <a:cs typeface="Calibri"/>
              </a:rPr>
              <a:t>我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43000" y="4095750"/>
            <a:ext cx="1238250" cy="47625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40597" y="4269581"/>
            <a:ext cx="4430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B0B0C0"/>
                </a:solidFill>
                <a:latin typeface="Calibri"/>
                <a:ea typeface="Microsoft YaHei"/>
                <a:cs typeface="Calibri"/>
              </a:rPr>
              <a:t>🧹 扫地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524125" y="4095750"/>
            <a:ext cx="1238250" cy="47625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921722" y="4269581"/>
            <a:ext cx="4430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B0B0C0"/>
                </a:solidFill>
                <a:latin typeface="Calibri"/>
                <a:ea typeface="Microsoft YaHei"/>
                <a:cs typeface="Calibri"/>
              </a:rPr>
              <a:t>🧹 拖地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905250" y="4095750"/>
            <a:ext cx="1238250" cy="47625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227124" y="4269581"/>
            <a:ext cx="5945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B0B0C0"/>
                </a:solidFill>
                <a:latin typeface="Calibri"/>
                <a:ea typeface="Microsoft YaHei"/>
                <a:cs typeface="Calibri"/>
              </a:rPr>
              <a:t>🧽 擦桌子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0926" y="4942999"/>
            <a:ext cx="16046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80"/>
                </a:solidFill>
                <a:latin typeface="Calibri Light"/>
                <a:ea typeface="Microsoft YaHei"/>
                <a:cs typeface="Calibri Light"/>
              </a:rPr>
              <a:t>脑袋怎么想 → 代码就怎么写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13279" y="5419249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i="1" dirty="0">
                <a:solidFill>
                  <a:srgbClr val="FF6D00"/>
                </a:solidFill>
                <a:latin typeface="Calibri Light"/>
                <a:ea typeface="Microsoft YaHei"/>
                <a:cs typeface="Calibri Light"/>
              </a:rPr>
              <a:t>每一步都要自己来</a:t>
            </a:r>
          </a:p>
        </p:txBody>
      </p:sp>
      <p:sp>
        <p:nvSpPr>
          <p:cNvPr id="20" name="Ellipse 20"/>
          <p:cNvSpPr/>
          <p:nvPr/>
        </p:nvSpPr>
        <p:spPr>
          <a:xfrm>
            <a:off x="5715000" y="3333750"/>
            <a:ext cx="762000" cy="7620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71032" y="3629025"/>
            <a:ext cx="24993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VS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81750" y="1238250"/>
            <a:ext cx="5334000" cy="4953000"/>
          </a:xfrm>
          <a:prstGeom prst="roundRect">
            <a:avLst>
              <a:gd name="adj" fmla="val 1538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381750" y="1238250"/>
            <a:ext cx="5334000" cy="47625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58356" y="142494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BFA5"/>
                </a:solidFill>
                <a:latin typeface="Arial Black"/>
                <a:ea typeface="Microsoft YaHei"/>
                <a:cs typeface="Arial Black"/>
              </a:rPr>
              <a:t>面向对象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17916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培养对象 · 让对象干</a:t>
            </a:r>
          </a:p>
        </p:txBody>
      </p:sp>
      <p:sp>
        <p:nvSpPr>
          <p:cNvPr id="26" name="Ellipse 26"/>
          <p:cNvSpPr/>
          <p:nvPr/>
        </p:nvSpPr>
        <p:spPr>
          <a:xfrm>
            <a:off x="7239000" y="2571750"/>
            <a:ext cx="762000" cy="762000"/>
          </a:xfrm>
          <a:prstGeom prst="ellipse">
            <a:avLst/>
          </a:prstGeom>
          <a:solidFill>
            <a:srgbClr val="00BFA5">
              <a:alpha val="15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31589" y="2840355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B0B0C0"/>
                </a:solidFill>
                <a:latin typeface="Calibri"/>
                <a:ea typeface="Calibri"/>
                <a:cs typeface="Calibri"/>
              </a:rPr>
              <a:t>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43991" y="3410902"/>
            <a:ext cx="1520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0C0"/>
                </a:solidFill>
                <a:latin typeface="Calibri"/>
                <a:ea typeface="Microsoft YaHei"/>
                <a:cs typeface="Calibri"/>
              </a:rPr>
              <a:t>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15719" y="28727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00BFA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0" name="Ellipse 30"/>
          <p:cNvSpPr/>
          <p:nvPr/>
        </p:nvSpPr>
        <p:spPr>
          <a:xfrm>
            <a:off x="8429625" y="2524125"/>
            <a:ext cx="857250" cy="857250"/>
          </a:xfrm>
          <a:prstGeom prst="ellipse">
            <a:avLst/>
          </a:prstGeom>
          <a:solidFill>
            <a:srgbClr val="00BFA5">
              <a:alpha val="2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668360" y="2836545"/>
            <a:ext cx="3797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00BFA5"/>
                </a:solidFill>
                <a:latin typeface="Calibri"/>
                <a:ea typeface="Calibri"/>
                <a:cs typeface="Calibri"/>
              </a:rPr>
              <a:t>⚙️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82533" y="33947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BFA5"/>
                </a:solidFill>
                <a:latin typeface="Calibri"/>
                <a:ea typeface="Microsoft YaHei"/>
                <a:cs typeface="Calibri"/>
              </a:rPr>
              <a:t>胖虎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49219" y="28727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00BFA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4" name="Ellipse 34"/>
          <p:cNvSpPr/>
          <p:nvPr/>
        </p:nvSpPr>
        <p:spPr>
          <a:xfrm>
            <a:off x="9810750" y="2571750"/>
            <a:ext cx="762000" cy="762000"/>
          </a:xfrm>
          <a:prstGeom prst="ellipse">
            <a:avLst/>
          </a:prstGeom>
          <a:solidFill>
            <a:srgbClr val="00BFA5">
              <a:alpha val="1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03339" y="2840355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dirty="0">
                <a:solidFill>
                  <a:srgbClr val="00BFA5"/>
                </a:solidFill>
                <a:latin typeface="Calibri"/>
                <a:ea typeface="Calibri"/>
                <a:cs typeface="Calibri"/>
              </a:rPr>
              <a:t>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45065" y="34109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0C0"/>
                </a:solidFill>
                <a:latin typeface="Calibri"/>
                <a:ea typeface="Microsoft YaHei"/>
                <a:cs typeface="Calibri"/>
              </a:rPr>
              <a:t>搞定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55384" y="42681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找合适的对象 → 让它干活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48688" y="45539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不关心它怎么干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12608" y="5125402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i="1" dirty="0">
                <a:solidFill>
                  <a:srgbClr val="00BFA5"/>
                </a:solidFill>
                <a:latin typeface="Calibri Light"/>
                <a:ea typeface="Microsoft YaHei"/>
                <a:cs typeface="Calibri Light"/>
              </a:rPr>
              <a:t>胖虎怎么打扫是它的事，我只要结果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1488" y="6530816"/>
            <a:ext cx="25750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6680"/>
                </a:solidFill>
                <a:latin typeface="Calibri Light"/>
                <a:ea typeface="Microsoft YaHei"/>
                <a:cs typeface="Calibri Light"/>
              </a:rPr>
              <a:t>编程思想 | 面向过程 = 自己干 | 面向对象 = 找对象干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3296" y="296228"/>
            <a:ext cx="25490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面向对象三步走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0535" y="783431"/>
            <a:ext cx="2025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核心流程：设计 → 创建 → 使用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76250" y="1238250"/>
            <a:ext cx="3524250" cy="4762500"/>
            <a:chOff x="476250" y="1238250"/>
            <a:chExt cx="3524250" cy="4762500"/>
          </a:xfrm>
        </p:grpSpPr>
        <p:sp>
          <p:nvSpPr>
            <p:cNvPr id="5" name="Rectangle 5"/>
            <p:cNvSpPr/>
            <p:nvPr/>
          </p:nvSpPr>
          <p:spPr>
            <a:xfrm>
              <a:off x="476250" y="1238250"/>
              <a:ext cx="3524250" cy="4762500"/>
            </a:xfrm>
            <a:prstGeom prst="roundRect">
              <a:avLst>
                <a:gd name="adj" fmla="val 2162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857375" y="1381125"/>
              <a:ext cx="762000" cy="762000"/>
            </a:xfrm>
            <a:prstGeom prst="ellipse">
              <a:avLst/>
            </a:prstGeom>
            <a:solidFill>
              <a:srgbClr val="448A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149964" y="16592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96898" y="2346008"/>
              <a:ext cx="1082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设计 class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4960" y="2704624"/>
              <a:ext cx="146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用 class 关键字定义蓝图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4187" y="2923699"/>
              <a:ext cx="948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封装属性 + 行为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14375" y="3333750"/>
              <a:ext cx="3048000" cy="1143000"/>
            </a:xfrm>
            <a:prstGeom prst="roundRect">
              <a:avLst>
                <a:gd name="adj" fmla="val 3333"/>
              </a:avLst>
            </a:prstGeom>
            <a:solidFill>
              <a:srgbClr val="14142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297" y="3466624"/>
              <a:ext cx="6708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48AFF"/>
                  </a:solidFill>
                  <a:latin typeface="Consolas"/>
                  <a:ea typeface="Consolas"/>
                  <a:cs typeface="Consolas"/>
                </a:rPr>
                <a:t>class Dog: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5172" y="3685699"/>
              <a:ext cx="88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onsolas"/>
                  <a:ea typeface="Microsoft YaHei"/>
                  <a:cs typeface="Consolas"/>
                </a:rPr>
                <a:t>name = "豆包"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5172" y="3904774"/>
              <a:ext cx="9549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def eat(self):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8047" y="4123849"/>
              <a:ext cx="10205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onsolas"/>
                  <a:ea typeface="Microsoft YaHei"/>
                  <a:cs typeface="Consolas"/>
                </a:rPr>
                <a:t>print("吃饭了")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905000" y="4524375"/>
              <a:ext cx="666750" cy="666750"/>
            </a:xfrm>
            <a:prstGeom prst="ellipse">
              <a:avLst/>
            </a:prstGeom>
            <a:solidFill>
              <a:srgbClr val="448AFF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43649" y="473868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448AFF"/>
                  </a:solidFill>
                  <a:latin typeface="Calibri"/>
                  <a:ea typeface="Calibri"/>
                  <a:cs typeface="Calibri"/>
                </a:rPr>
                <a:t>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21631" y="5284470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80"/>
                  </a:solidFill>
                  <a:latin typeface="Calibri Light"/>
                  <a:ea typeface="Microsoft YaHei"/>
                  <a:cs typeface="Calibri Light"/>
                </a:rPr>
                <a:t>蓝图 / 模板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32707" y="3392805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00BFA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333875" y="1238250"/>
            <a:ext cx="3524250" cy="4762500"/>
            <a:chOff x="4333875" y="1238250"/>
            <a:chExt cx="3524250" cy="4762500"/>
          </a:xfrm>
        </p:grpSpPr>
        <p:sp>
          <p:nvSpPr>
            <p:cNvPr id="21" name="Rectangle 21"/>
            <p:cNvSpPr/>
            <p:nvPr/>
          </p:nvSpPr>
          <p:spPr>
            <a:xfrm>
              <a:off x="4333875" y="1238250"/>
              <a:ext cx="3524250" cy="4762500"/>
            </a:xfrm>
            <a:prstGeom prst="roundRect">
              <a:avLst>
                <a:gd name="adj" fmla="val 2162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715000" y="1381125"/>
              <a:ext cx="762000" cy="762000"/>
            </a:xfrm>
            <a:prstGeom prst="ellipse">
              <a:avLst/>
            </a:prstGeom>
            <a:solidFill>
              <a:srgbClr val="FF6D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07589" y="16592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10054" y="2346008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创建 对象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93839" y="2704624"/>
              <a:ext cx="1204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基于 class 产出实体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90558" y="292369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一个设计 → 多个对象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72000" y="3333750"/>
              <a:ext cx="3048000" cy="1143000"/>
            </a:xfrm>
            <a:prstGeom prst="roundRect">
              <a:avLst>
                <a:gd name="adj" fmla="val 3333"/>
              </a:avLst>
            </a:prstGeom>
            <a:solidFill>
              <a:srgbClr val="14142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09922" y="3466624"/>
              <a:ext cx="818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F6D00"/>
                  </a:solidFill>
                  <a:latin typeface="Consolas"/>
                  <a:ea typeface="Consolas"/>
                  <a:cs typeface="Consolas"/>
                </a:rPr>
                <a:t>dog1 = Dog()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9922" y="3685699"/>
              <a:ext cx="818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dog2 = Dog()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09922" y="3904774"/>
              <a:ext cx="818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dog3 = Dog()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9922" y="4123849"/>
              <a:ext cx="1302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66680"/>
                  </a:solidFill>
                  <a:latin typeface="Consolas"/>
                  <a:ea typeface="Microsoft YaHei"/>
                  <a:cs typeface="Consolas"/>
                </a:rPr>
                <a:t># 一个蓝图，多个实例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762625" y="4524375"/>
              <a:ext cx="666750" cy="666750"/>
            </a:xfrm>
            <a:prstGeom prst="ellipse">
              <a:avLst/>
            </a:prstGeom>
            <a:solidFill>
              <a:srgbClr val="FF6D00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01274" y="473868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6D00"/>
                  </a:solidFill>
                  <a:latin typeface="Calibri"/>
                  <a:ea typeface="Calibri"/>
                  <a:cs typeface="Calibri"/>
                </a:rPr>
                <a:t>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48921" y="52844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80"/>
                  </a:solidFill>
                  <a:latin typeface="Calibri Light"/>
                  <a:ea typeface="Microsoft YaHei"/>
                  <a:cs typeface="Calibri Light"/>
                </a:rPr>
                <a:t>多个实例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990332" y="3392805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00BFA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191500" y="1238250"/>
            <a:ext cx="3524250" cy="4762500"/>
            <a:chOff x="8191500" y="1238250"/>
            <a:chExt cx="3524250" cy="4762500"/>
          </a:xfrm>
        </p:grpSpPr>
        <p:sp>
          <p:nvSpPr>
            <p:cNvPr id="37" name="Rectangle 37"/>
            <p:cNvSpPr/>
            <p:nvPr/>
          </p:nvSpPr>
          <p:spPr>
            <a:xfrm>
              <a:off x="8191500" y="1238250"/>
              <a:ext cx="3524250" cy="4762500"/>
            </a:xfrm>
            <a:prstGeom prst="roundRect">
              <a:avLst>
                <a:gd name="adj" fmla="val 2162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572625" y="1381125"/>
              <a:ext cx="762000" cy="762000"/>
            </a:xfrm>
            <a:prstGeom prst="ellipse">
              <a:avLst/>
            </a:prstGeom>
            <a:solidFill>
              <a:srgbClr val="00BFA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65214" y="16592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7679" y="2346008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对象 干活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48183" y="2704624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访问属性 / 调用方法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23654" y="29236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让对象去执行任务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429625" y="3333750"/>
              <a:ext cx="3048000" cy="1143000"/>
            </a:xfrm>
            <a:prstGeom prst="roundRect">
              <a:avLst>
                <a:gd name="adj" fmla="val 3333"/>
              </a:avLst>
            </a:prstGeom>
            <a:solidFill>
              <a:srgbClr val="14142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67547" y="3466624"/>
              <a:ext cx="7318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BFA5"/>
                  </a:solidFill>
                  <a:latin typeface="Consolas"/>
                  <a:ea typeface="Consolas"/>
                  <a:cs typeface="Consolas"/>
                </a:rPr>
                <a:t>dog1.eat()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67547" y="3685699"/>
              <a:ext cx="685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dog1.name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67547" y="3904774"/>
              <a:ext cx="8105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dog1.age = 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67547" y="4123849"/>
              <a:ext cx="16112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66680"/>
                  </a:solidFill>
                  <a:latin typeface="Consolas"/>
                  <a:ea typeface="Microsoft YaHei"/>
                  <a:cs typeface="Consolas"/>
                </a:rPr>
                <a:t># 对象.属性 / 对象.方法()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620250" y="4524375"/>
              <a:ext cx="666750" cy="666750"/>
            </a:xfrm>
            <a:prstGeom prst="ellipse">
              <a:avLst/>
            </a:prstGeom>
            <a:solidFill>
              <a:srgbClr val="00BFA5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75603" y="4738688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BFA5"/>
                  </a:solidFill>
                  <a:latin typeface="Calibri"/>
                  <a:ea typeface="Calibri"/>
                  <a:cs typeface="Calibri"/>
                </a:rPr>
                <a:t>▶️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06546" y="52844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80"/>
                  </a:solidFill>
                  <a:latin typeface="Calibri Light"/>
                  <a:ea typeface="Microsoft YaHei"/>
                  <a:cs typeface="Calibri Light"/>
                </a:rPr>
                <a:t>执行任务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471488" y="6530816"/>
            <a:ext cx="243101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6680"/>
                </a:solidFill>
                <a:latin typeface="Calibri Light"/>
                <a:ea typeface="Microsoft YaHei"/>
                <a:cs typeface="Calibri Light"/>
              </a:rPr>
              <a:t>OOP 三步走 | 设计 class → 创建对象 → 对象干活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3296" y="296228"/>
            <a:ext cx="227869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self 是什么？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0535" y="783431"/>
            <a:ext cx="355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哪个对象调用，self 就是谁 — 同一个方法，不同数据</a:t>
            </a:r>
          </a:p>
        </p:txBody>
      </p:sp>
      <p:sp>
        <p:nvSpPr>
          <p:cNvPr id="5" name="Ellipse 5"/>
          <p:cNvSpPr/>
          <p:nvPr/>
        </p:nvSpPr>
        <p:spPr>
          <a:xfrm>
            <a:off x="1047750" y="2190750"/>
            <a:ext cx="1333500" cy="1333500"/>
          </a:xfrm>
          <a:prstGeom prst="ellipse">
            <a:avLst/>
          </a:prstGeom>
          <a:solidFill>
            <a:srgbClr val="448AFF">
              <a:alpha val="1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190625" y="2333625"/>
            <a:ext cx="1047750" cy="1047750"/>
          </a:xfrm>
          <a:prstGeom prst="ellipse">
            <a:avLst/>
          </a:prstGeom>
          <a:solidFill>
            <a:srgbClr val="448AFF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600829" y="2708910"/>
            <a:ext cx="227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7731" y="35690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stu1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1614" y="3831431"/>
            <a:ext cx="4657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王丽红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0" y="2095500"/>
            <a:ext cx="3048000" cy="15240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572000" y="2095500"/>
            <a:ext cx="304800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755642" y="2283142"/>
            <a:ext cx="15498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00BFA5"/>
                </a:solidFill>
                <a:latin typeface="Consolas"/>
                <a:ea typeface="Consolas"/>
                <a:cs typeface="Consolas"/>
              </a:rPr>
              <a:t>def sleep(self):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46904" y="2585085"/>
            <a:ext cx="13287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B0C0"/>
                </a:solidFill>
                <a:latin typeface="Consolas"/>
                <a:ea typeface="Microsoft YaHei"/>
                <a:cs typeface="Consolas"/>
              </a:rPr>
              <a:t>print(f"大家好，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46904" y="282321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0B0C0"/>
                </a:solidFill>
                <a:latin typeface="Consolas"/>
                <a:ea typeface="Microsoft YaHei"/>
                <a:cs typeface="Consolas"/>
              </a:rPr>
              <a:t>我是{self.name}")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57547" y="3228499"/>
            <a:ext cx="10730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i="1" dirty="0">
                <a:solidFill>
                  <a:srgbClr val="00BFA5"/>
                </a:solidFill>
                <a:latin typeface="Calibri Light"/>
                <a:ea typeface="Microsoft YaHei"/>
                <a:cs typeface="Calibri Light"/>
              </a:rPr>
              <a:t>self = 调用者本身</a:t>
            </a:r>
          </a:p>
        </p:txBody>
      </p:sp>
      <p:sp>
        <p:nvSpPr>
          <p:cNvPr id="16" name="Ellipse 16"/>
          <p:cNvSpPr/>
          <p:nvPr/>
        </p:nvSpPr>
        <p:spPr>
          <a:xfrm>
            <a:off x="9810750" y="2190750"/>
            <a:ext cx="1333500" cy="1333500"/>
          </a:xfrm>
          <a:prstGeom prst="ellipse">
            <a:avLst/>
          </a:prstGeom>
          <a:solidFill>
            <a:srgbClr val="FF6D00">
              <a:alpha val="12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9953625" y="2333625"/>
            <a:ext cx="1047750" cy="1047750"/>
          </a:xfrm>
          <a:prstGeom prst="ellipse">
            <a:avLst/>
          </a:prstGeom>
          <a:solidFill>
            <a:srgbClr val="FF6D00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363829" y="2708910"/>
            <a:ext cx="227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70731" y="35690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stu2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4614" y="3831431"/>
            <a:ext cx="4657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周杰轮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16630" y="2743200"/>
            <a:ext cx="5907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8AFF"/>
                </a:solidFill>
                <a:latin typeface="Calibri"/>
                <a:ea typeface="Microsoft YaHei"/>
                <a:cs typeface="Calibri"/>
              </a:rPr>
              <a:t>调用 →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07630" y="2743200"/>
            <a:ext cx="5907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6D00"/>
                </a:solidFill>
                <a:latin typeface="Calibri"/>
                <a:ea typeface="Microsoft YaHei"/>
                <a:cs typeface="Calibri"/>
              </a:rPr>
              <a:t>← 调用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238250" y="4476750"/>
            <a:ext cx="4286250" cy="523875"/>
          </a:xfrm>
          <a:prstGeom prst="roundRect">
            <a:avLst>
              <a:gd name="adj" fmla="val 10909"/>
            </a:avLst>
          </a:prstGeom>
          <a:solidFill>
            <a:srgbClr val="448AFF">
              <a:alpha val="1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402610" y="4679156"/>
            <a:ext cx="19575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→ 输出：大家好，我是王丽红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667500" y="4476750"/>
            <a:ext cx="4286250" cy="523875"/>
          </a:xfrm>
          <a:prstGeom prst="roundRect">
            <a:avLst>
              <a:gd name="adj" fmla="val 10909"/>
            </a:avLst>
          </a:prstGeom>
          <a:solidFill>
            <a:srgbClr val="FF6D00">
              <a:alpha val="1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31860" y="4679156"/>
            <a:ext cx="19575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→ 输出：大家好，我是周杰轮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905000" y="5429250"/>
            <a:ext cx="8382000" cy="476250"/>
          </a:xfrm>
          <a:prstGeom prst="roundRect">
            <a:avLst>
              <a:gd name="adj" fmla="val 12000"/>
            </a:avLst>
          </a:prstGeom>
          <a:solidFill>
            <a:srgbClr val="00BFA5">
              <a:alpha val="1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646551" y="5604510"/>
            <a:ext cx="48988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BFA5"/>
                </a:solidFill>
                <a:latin typeface="Calibri Light"/>
                <a:ea typeface="Microsoft YaHei"/>
                <a:cs typeface="Calibri Light"/>
              </a:rPr>
              <a:t>同一个方法 sleep(self)，不同对象调用，self 指向不同 → 输出不同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1488" y="6530816"/>
            <a:ext cx="31525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6680"/>
                </a:solidFill>
                <a:latin typeface="Calibri Light"/>
                <a:ea typeface="Microsoft YaHei"/>
                <a:cs typeface="Calibri Light"/>
              </a:rPr>
              <a:t>理解 self = 理解面向对象 | 方法签名中的第一参数就是实例本身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3296" y="296228"/>
            <a:ext cx="290946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四个核心魔法方法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0535" y="783431"/>
            <a:ext cx="27479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特定名字 → 特定功能 → Python 自动调用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76250" y="1238250"/>
            <a:ext cx="5476875" cy="2428875"/>
            <a:chOff x="476250" y="1238250"/>
            <a:chExt cx="5476875" cy="2428875"/>
          </a:xfrm>
        </p:grpSpPr>
        <p:sp>
          <p:nvSpPr>
            <p:cNvPr id="5" name="Rectangle 5"/>
            <p:cNvSpPr/>
            <p:nvPr/>
          </p:nvSpPr>
          <p:spPr>
            <a:xfrm>
              <a:off x="476250" y="1238250"/>
              <a:ext cx="5476875" cy="2428875"/>
            </a:xfrm>
            <a:prstGeom prst="roundRect">
              <a:avLst>
                <a:gd name="adj" fmla="val 313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590550" y="1352550"/>
              <a:ext cx="533400" cy="533400"/>
            </a:xfrm>
            <a:prstGeom prst="ellipse">
              <a:avLst/>
            </a:prstGeom>
            <a:solidFill>
              <a:srgbClr val="00BFA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7784" y="15363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8255" y="1438275"/>
              <a:ext cx="842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BFA5"/>
                  </a:solidFill>
                  <a:latin typeface="Consolas"/>
                  <a:ea typeface="Consolas"/>
                  <a:cs typeface="Consolas"/>
                </a:rPr>
                <a:t>__init__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0541" y="1677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构造方法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1797" y="2085499"/>
              <a:ext cx="2109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创建对象时自动执行，传参自动传入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295049"/>
              <a:ext cx="2057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self.name = name → 完成属性赋值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797" y="250459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对象「出生」即属性齐全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76250" y="3333750"/>
              <a:ext cx="5476875" cy="333375"/>
            </a:xfrm>
            <a:prstGeom prst="rect">
              <a:avLst/>
            </a:prstGeom>
            <a:solidFill>
              <a:srgbClr val="00BFA5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15083" y="3455670"/>
              <a:ext cx="2189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BFA5"/>
                  </a:solidFill>
                  <a:latin typeface="Consolas"/>
                  <a:ea typeface="Microsoft YaHei"/>
                  <a:cs typeface="Consolas"/>
                </a:rPr>
                <a:t>Dog("阿黄","黄") → __init__ 自动调用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38875" y="1238250"/>
            <a:ext cx="5476875" cy="2428875"/>
            <a:chOff x="6238875" y="1238250"/>
            <a:chExt cx="5476875" cy="2428875"/>
          </a:xfrm>
        </p:grpSpPr>
        <p:sp>
          <p:nvSpPr>
            <p:cNvPr id="16" name="Rectangle 16"/>
            <p:cNvSpPr/>
            <p:nvPr/>
          </p:nvSpPr>
          <p:spPr>
            <a:xfrm>
              <a:off x="6238875" y="1238250"/>
              <a:ext cx="5476875" cy="2428875"/>
            </a:xfrm>
            <a:prstGeom prst="roundRect">
              <a:avLst>
                <a:gd name="adj" fmla="val 313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353175" y="1352550"/>
              <a:ext cx="533400" cy="533400"/>
            </a:xfrm>
            <a:prstGeom prst="ellipse">
              <a:avLst/>
            </a:prstGeom>
            <a:solidFill>
              <a:srgbClr val="448A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50409" y="15363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143827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448AFF"/>
                  </a:solidFill>
                  <a:latin typeface="Consolas"/>
                  <a:ea typeface="Consolas"/>
                  <a:cs typeface="Consolas"/>
                </a:rPr>
                <a:t>__str__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43166" y="1677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字符串方法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4422" y="2085499"/>
              <a:ext cx="1689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print() / str() 时自动调用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4422" y="2295049"/>
              <a:ext cx="1847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返回可读字符串，替代内存地址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4422" y="2504599"/>
              <a:ext cx="1749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return f"我是{self.name}"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38875" y="3333750"/>
              <a:ext cx="5476875" cy="333375"/>
            </a:xfrm>
            <a:prstGeom prst="rect">
              <a:avLst/>
            </a:prstGeom>
            <a:solidFill>
              <a:srgbClr val="448AFF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86363" y="3455670"/>
              <a:ext cx="17723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48AFF"/>
                  </a:solidFill>
                  <a:latin typeface="Consolas"/>
                  <a:ea typeface="Microsoft YaHei"/>
                  <a:cs typeface="Consolas"/>
                </a:rPr>
                <a:t>print(dog) → __str__ 自动调用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" y="3952875"/>
            <a:ext cx="5476875" cy="2428875"/>
            <a:chOff x="476250" y="3952875"/>
            <a:chExt cx="5476875" cy="2428875"/>
          </a:xfrm>
        </p:grpSpPr>
        <p:sp>
          <p:nvSpPr>
            <p:cNvPr id="27" name="Rectangle 27"/>
            <p:cNvSpPr/>
            <p:nvPr/>
          </p:nvSpPr>
          <p:spPr>
            <a:xfrm>
              <a:off x="476250" y="3952875"/>
              <a:ext cx="5476875" cy="2428875"/>
            </a:xfrm>
            <a:prstGeom prst="roundRect">
              <a:avLst>
                <a:gd name="adj" fmla="val 313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90550" y="4067175"/>
              <a:ext cx="533400" cy="533400"/>
            </a:xfrm>
            <a:prstGeom prst="ellipse">
              <a:avLst/>
            </a:prstGeom>
            <a:solidFill>
              <a:srgbClr val="FF6D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6700" y="4251008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⚖️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8255" y="415290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6D00"/>
                  </a:solidFill>
                  <a:latin typeface="Consolas"/>
                  <a:ea typeface="Consolas"/>
                  <a:cs typeface="Consolas"/>
                </a:rPr>
                <a:t>__eq__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0541" y="43919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相等比较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97" y="4800124"/>
              <a:ext cx="2395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== 比较时自动调用，应返回 True/False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797" y="5009674"/>
              <a:ext cx="2109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自定义相等逻辑，而非比较内存地址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797" y="5219224"/>
              <a:ext cx="2208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def __eq__(self, other): 比较属性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6250" y="6048375"/>
              <a:ext cx="5476875" cy="333375"/>
            </a:xfrm>
            <a:prstGeom prst="rect">
              <a:avLst/>
            </a:prstGeom>
            <a:solidFill>
              <a:srgbClr val="FF6D00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05564" y="6170295"/>
              <a:ext cx="1808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6D00"/>
                  </a:solidFill>
                  <a:latin typeface="Consolas"/>
                  <a:ea typeface="Microsoft YaHei"/>
                  <a:cs typeface="Consolas"/>
                </a:rPr>
                <a:t>dog1 == dog2 → __eq__ 自动调用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38875" y="3952875"/>
            <a:ext cx="5476875" cy="2428875"/>
            <a:chOff x="6238875" y="3952875"/>
            <a:chExt cx="5476875" cy="2428875"/>
          </a:xfrm>
        </p:grpSpPr>
        <p:sp>
          <p:nvSpPr>
            <p:cNvPr id="38" name="Rectangle 38"/>
            <p:cNvSpPr/>
            <p:nvPr/>
          </p:nvSpPr>
          <p:spPr>
            <a:xfrm>
              <a:off x="6238875" y="3952875"/>
              <a:ext cx="5476875" cy="2428875"/>
            </a:xfrm>
            <a:prstGeom prst="roundRect">
              <a:avLst>
                <a:gd name="adj" fmla="val 313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353175" y="4067175"/>
              <a:ext cx="533400" cy="533400"/>
            </a:xfrm>
            <a:prstGeom prst="ellipse">
              <a:avLst/>
            </a:prstGeom>
            <a:solidFill>
              <a:srgbClr val="FF525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89325" y="4251008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🗑️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0880" y="4152900"/>
              <a:ext cx="778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5252"/>
                  </a:solidFill>
                  <a:latin typeface="Consolas"/>
                  <a:ea typeface="Consolas"/>
                  <a:cs typeface="Consolas"/>
                </a:rPr>
                <a:t>__del__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3166" y="43919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析构方法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4422" y="4800124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对象被删除时自动执行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4422" y="5009674"/>
              <a:ext cx="25759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清理资源（关文件等）/ del 或程序退出触发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24422" y="5219224"/>
              <a:ext cx="1775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def __del__(self): 收尾工作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38875" y="6048375"/>
              <a:ext cx="5476875" cy="333375"/>
            </a:xfrm>
            <a:prstGeom prst="rect">
              <a:avLst/>
            </a:prstGeom>
            <a:solidFill>
              <a:srgbClr val="FF5252">
                <a:alpha val="12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04626" y="6170295"/>
              <a:ext cx="21358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5252"/>
                  </a:solidFill>
                  <a:latin typeface="Consolas"/>
                  <a:ea typeface="Microsoft YaHei"/>
                  <a:cs typeface="Consolas"/>
                </a:rPr>
                <a:t>del dog / 程序退出 → __del__ 自动调用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71488" y="6530816"/>
            <a:ext cx="28082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66680"/>
                </a:solidFill>
                <a:latin typeface="Calibri Light"/>
                <a:ea typeface="Microsoft YaHei"/>
                <a:cs typeface="Calibri Light"/>
              </a:rPr>
              <a:t>魔法方法 = 特定名字 + 特定功能 | 写了就有，不写用默认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3296" y="296228"/>
            <a:ext cx="25490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封装：私有属性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0535" y="783431"/>
            <a:ext cx="34492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0B0C0"/>
                </a:solidFill>
                <a:latin typeface="Calibri Light"/>
                <a:ea typeface="Microsoft YaHei"/>
                <a:cs typeface="Calibri Light"/>
              </a:rPr>
              <a:t>保护数据，只能通过公开方法访问 — __ 前缀 = 私有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6250" y="1238250"/>
            <a:ext cx="5334000" cy="4762500"/>
            <a:chOff x="476250" y="1238250"/>
            <a:chExt cx="5334000" cy="4762500"/>
          </a:xfrm>
        </p:grpSpPr>
        <p:sp>
          <p:nvSpPr>
            <p:cNvPr id="5" name="Rectangle 5"/>
            <p:cNvSpPr/>
            <p:nvPr/>
          </p:nvSpPr>
          <p:spPr>
            <a:xfrm>
              <a:off x="476250" y="1238250"/>
              <a:ext cx="5334000" cy="4762500"/>
            </a:xfrm>
            <a:prstGeom prst="roundRect">
              <a:avLst>
                <a:gd name="adj" fmla="val 1600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76250" y="1238250"/>
              <a:ext cx="5334000" cy="47625"/>
            </a:xfrm>
            <a:prstGeom prst="rect">
              <a:avLst/>
            </a:prstGeom>
            <a:solidFill>
              <a:srgbClr val="FF525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148875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5252"/>
                  </a:solidFill>
                  <a:latin typeface="Arial Black"/>
                  <a:ea typeface="Microsoft YaHei"/>
                  <a:cs typeface="Arial Black"/>
                </a:rPr>
                <a:t>❌ 没有私有 — 危险！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952625"/>
              <a:ext cx="4762500" cy="1428750"/>
            </a:xfrm>
            <a:prstGeom prst="roundRect">
              <a:avLst>
                <a:gd name="adj" fmla="val 2667"/>
              </a:avLst>
            </a:prstGeom>
            <a:solidFill>
              <a:srgbClr val="1414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166" y="2077402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5252"/>
                  </a:solidFill>
                  <a:latin typeface="Consolas"/>
                  <a:ea typeface="Consolas"/>
                  <a:cs typeface="Consolas"/>
                </a:rPr>
                <a:t>stu.money = -999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166" y="2315528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5252"/>
                  </a:solidFill>
                  <a:latin typeface="Consolas"/>
                  <a:ea typeface="Microsoft YaHei"/>
                  <a:cs typeface="Consolas"/>
                </a:rPr>
                <a:t>stu.age = "十八岁"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166" y="2553652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80"/>
                  </a:solidFill>
                  <a:latin typeface="Consolas"/>
                  <a:ea typeface="Microsoft YaHei"/>
                  <a:cs typeface="Consolas"/>
                </a:rPr>
                <a:t># 数据可以被任意篡改！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166" y="2791778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80"/>
                  </a:solidFill>
                  <a:latin typeface="Consolas"/>
                  <a:ea typeface="Microsoft YaHei"/>
                  <a:cs typeface="Consolas"/>
                </a:rPr>
                <a:t># 类型、范围全无保障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667000" y="3524250"/>
              <a:ext cx="952500" cy="952500"/>
            </a:xfrm>
            <a:prstGeom prst="ellipse">
              <a:avLst/>
            </a:prstGeom>
            <a:solidFill>
              <a:srgbClr val="FF5252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16948" y="3819525"/>
              <a:ext cx="2526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dirty="0">
                  <a:solidFill>
                    <a:srgbClr val="FF5252"/>
                  </a:solidFill>
                  <a:latin typeface="Calibri"/>
                  <a:ea typeface="Calibri"/>
                  <a:cs typeface="Calibri"/>
                </a:rPr>
                <a:t>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31770" y="4552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5252"/>
                  </a:solidFill>
                  <a:latin typeface="Arial Black"/>
                  <a:ea typeface="Microsoft YaHei"/>
                  <a:cs typeface="Arial Black"/>
                </a:rPr>
                <a:t>谁都能改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1911" y="4887278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属性公开 = 无保护</a:t>
              </a:r>
            </a:p>
          </p:txBody>
        </p:sp>
      </p:grpSp>
      <p:sp>
        <p:nvSpPr>
          <p:cNvPr id="18" name="Ellipse 18"/>
          <p:cNvSpPr/>
          <p:nvPr/>
        </p:nvSpPr>
        <p:spPr>
          <a:xfrm>
            <a:off x="5762625" y="3286125"/>
            <a:ext cx="666750" cy="66675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020219" y="3520440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381750" y="1238250"/>
            <a:ext cx="5334000" cy="4762500"/>
            <a:chOff x="6381750" y="1238250"/>
            <a:chExt cx="5334000" cy="4762500"/>
          </a:xfrm>
        </p:grpSpPr>
        <p:sp>
          <p:nvSpPr>
            <p:cNvPr id="20" name="Rectangle 20"/>
            <p:cNvSpPr/>
            <p:nvPr/>
          </p:nvSpPr>
          <p:spPr>
            <a:xfrm>
              <a:off x="6381750" y="1238250"/>
              <a:ext cx="5334000" cy="4762500"/>
            </a:xfrm>
            <a:prstGeom prst="roundRect">
              <a:avLst>
                <a:gd name="adj" fmla="val 1600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81750" y="1238250"/>
              <a:ext cx="5334000" cy="47625"/>
            </a:xfrm>
            <a:prstGeom prst="rect">
              <a:avLst/>
            </a:prstGeom>
            <a:solidFill>
              <a:srgbClr val="00B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59118" y="148875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BFA5"/>
                  </a:solidFill>
                  <a:latin typeface="Arial Black"/>
                  <a:ea typeface="Microsoft YaHei"/>
                  <a:cs typeface="Arial Black"/>
                </a:rPr>
                <a:t>✅ 有私有 — 安全！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67500" y="1952625"/>
              <a:ext cx="4762500" cy="1428750"/>
            </a:xfrm>
            <a:prstGeom prst="roundRect">
              <a:avLst>
                <a:gd name="adj" fmla="val 2667"/>
              </a:avLst>
            </a:prstGeom>
            <a:solidFill>
              <a:srgbClr val="14142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2666" y="2077402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FA5"/>
                  </a:solidFill>
                  <a:latin typeface="Consolas"/>
                  <a:ea typeface="Consolas"/>
                  <a:cs typeface="Consolas"/>
                </a:rPr>
                <a:t>self.__money = 100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666" y="2315528"/>
              <a:ext cx="1523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FA5"/>
                  </a:solidFill>
                  <a:latin typeface="Consolas"/>
                  <a:ea typeface="Consolas"/>
                  <a:cs typeface="Consolas"/>
                </a:rPr>
                <a:t>def get_money(self):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95541" y="25346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return self.__money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666" y="2772728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FA5"/>
                  </a:solidFill>
                  <a:latin typeface="Consolas"/>
                  <a:ea typeface="Consolas"/>
                  <a:cs typeface="Consolas"/>
                </a:rPr>
                <a:t>def work(self):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5541" y="2991802"/>
              <a:ext cx="1487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0B0C0"/>
                  </a:solidFill>
                  <a:latin typeface="Consolas"/>
                  <a:ea typeface="Consolas"/>
                  <a:cs typeface="Consolas"/>
                </a:rPr>
                <a:t>self.__money += 1000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572500" y="3524250"/>
              <a:ext cx="952500" cy="952500"/>
            </a:xfrm>
            <a:prstGeom prst="ellipse">
              <a:avLst/>
            </a:prstGeom>
            <a:solidFill>
              <a:srgbClr val="00BFA5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22448" y="3819525"/>
              <a:ext cx="2526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dirty="0">
                  <a:solidFill>
                    <a:srgbClr val="00BFA5"/>
                  </a:solidFill>
                  <a:latin typeface="Calibri"/>
                  <a:ea typeface="Calibri"/>
                  <a:cs typeface="Calibri"/>
                </a:rPr>
                <a:t>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5340" y="4552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BFA5"/>
                  </a:solidFill>
                  <a:latin typeface="Arial Black"/>
                  <a:ea typeface="Microsoft YaHei"/>
                  <a:cs typeface="Arial Black"/>
                </a:rPr>
                <a:t>必须通过方法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3053" y="4887278"/>
              <a:ext cx="155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get / set 做中转 + 验证</a:t>
              </a:r>
            </a:p>
          </p:txBody>
        </p:sp>
      </p:grpSp>
      <p:sp>
        <p:nvSpPr>
          <p:cNvPr id="34" name="Rectangle 34"/>
          <p:cNvSpPr/>
          <p:nvPr/>
        </p:nvSpPr>
        <p:spPr>
          <a:xfrm>
            <a:off x="1428750" y="6238875"/>
            <a:ext cx="9334500" cy="428625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898082" y="6393656"/>
            <a:ext cx="439583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00BFA5"/>
                </a:solidFill>
                <a:latin typeface="Calibri Light"/>
                <a:ea typeface="Microsoft YaHei"/>
                <a:cs typeface="Calibri Light"/>
              </a:rPr>
              <a:t>私有 = 加锁 | 想访问？走公共方法（get/set） | 数据安全 + 可控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3296" y="296228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核心要点回顾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1333500"/>
            <a:ext cx="3238500" cy="2667000"/>
            <a:chOff x="762000" y="1333500"/>
            <a:chExt cx="3238500" cy="2667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3238500" cy="2667000"/>
            </a:xfrm>
            <a:prstGeom prst="roundRect">
              <a:avLst>
                <a:gd name="adj" fmla="val 285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162289" y="1607820"/>
              <a:ext cx="4379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dirty="0">
                  <a:solidFill>
                    <a:srgbClr val="00BFA5"/>
                  </a:solidFill>
                  <a:latin typeface="Arial Black"/>
                  <a:ea typeface="Arial Black"/>
                  <a:cs typeface="Arial Black"/>
                </a:rPr>
                <a:t>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50745" y="24888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步走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36674" y="2887028"/>
              <a:ext cx="689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设计 class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93214" y="3106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创建对象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3214" y="33251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对象干活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76750" y="1333500"/>
            <a:ext cx="3238500" cy="2667000"/>
            <a:chOff x="4476750" y="1333500"/>
            <a:chExt cx="3238500" cy="26670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333500"/>
              <a:ext cx="3238500" cy="2667000"/>
            </a:xfrm>
            <a:prstGeom prst="roundRect">
              <a:avLst>
                <a:gd name="adj" fmla="val 285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77039" y="1607820"/>
              <a:ext cx="4379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dirty="0">
                  <a:solidFill>
                    <a:srgbClr val="448AFF"/>
                  </a:solidFill>
                  <a:latin typeface="Arial Black"/>
                  <a:ea typeface="Arial Black"/>
                  <a:cs typeface="Arial Black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32311" y="2488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个魔法方法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92404" y="2887028"/>
              <a:ext cx="1007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__init__ · 构造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5262" y="3106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__str__ · 字符串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4809" y="3325178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__eq__ · 比较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13606" y="3544252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__del__ · 析构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0" y="1333500"/>
            <a:ext cx="3238500" cy="2667000"/>
            <a:chOff x="8191500" y="1333500"/>
            <a:chExt cx="32385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8191500" y="1333500"/>
              <a:ext cx="3238500" cy="2667000"/>
            </a:xfrm>
            <a:prstGeom prst="roundRect">
              <a:avLst>
                <a:gd name="adj" fmla="val 2857"/>
              </a:avLst>
            </a:prstGeom>
            <a:solidFill>
              <a:srgbClr val="25254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91789" y="1607820"/>
              <a:ext cx="4379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dirty="0">
                  <a:solidFill>
                    <a:srgbClr val="FF6D00"/>
                  </a:solidFill>
                  <a:latin typeface="Arial Black"/>
                  <a:ea typeface="Arial Black"/>
                  <a:cs typeface="Arial Black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9184" y="24888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大特征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1363" y="2887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封装（私有）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64065" y="31061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继承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64065" y="33251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B0C0"/>
                  </a:solidFill>
                  <a:latin typeface="Calibri Light"/>
                  <a:ea typeface="Microsoft YaHei"/>
                  <a:cs typeface="Calibri Light"/>
                </a:rPr>
                <a:t>多态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2381250" y="4381500"/>
            <a:ext cx="7429500" cy="523875"/>
          </a:xfrm>
          <a:prstGeom prst="roundRect">
            <a:avLst>
              <a:gd name="adj" fmla="val 10909"/>
            </a:avLst>
          </a:prstGeom>
          <a:solidFill>
            <a:srgbClr val="00BFA5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4378" y="455961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BFA5"/>
                </a:solidFill>
                <a:latin typeface="Calibri Light"/>
                <a:ea typeface="Microsoft YaHei"/>
                <a:cs typeface="Calibri Light"/>
              </a:rPr>
              <a:t>下一步：继承与多态，让对象更有层次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866132" y="6155055"/>
            <a:ext cx="245973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dirty="0">
                <a:solidFill>
                  <a:srgbClr val="1A1A2E"/>
                </a:solidFill>
                <a:latin typeface="Arial Black"/>
                <a:ea typeface="Microsoft YaHei"/>
                <a:cs typeface="Arial Black"/>
              </a:rPr>
              <a:t>谢谢大家！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2026-06-30T12:59:00Z</dcterms:created>
  <dcterms:modified xsi:type="dcterms:W3CDTF">2026-06-30T12:59:00Z</dcterms:modified>
  <cp:category/>
  <cp:contentStatus/>
</cp:coreProperties>
</file>